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83" r:id="rId5"/>
    <p:sldId id="260" r:id="rId6"/>
    <p:sldId id="272" r:id="rId7"/>
    <p:sldId id="277" r:id="rId8"/>
    <p:sldId id="282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81218" autoAdjust="0"/>
  </p:normalViewPr>
  <p:slideViewPr>
    <p:cSldViewPr snapToGrid="0">
      <p:cViewPr varScale="1">
        <p:scale>
          <a:sx n="84" d="100"/>
          <a:sy n="84" d="100"/>
        </p:scale>
        <p:origin x="4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ACF725-0646-42C4-8DF3-3366272E556B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64C14-8FE9-40A2-81E3-723A0700A0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4375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根據聯合國亞太經濟社會委員會（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UN ESCAP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）與國際能源總署（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IEA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）等機構在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年與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2026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年發布的最新報告，亞太地區在推進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SDG 7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（確保人人享有負擔得起、可靠、永續且現代的能源） 展現了極大的潛力，但也面臨顯著的區域差異。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C64C14-8FE9-40A2-81E3-723A0700A0A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0794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254EF-68F3-4614-AB06-0C645CC32CC4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5F243-F182-4C0D-9217-64F51F6CDF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9760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254EF-68F3-4614-AB06-0C645CC32CC4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5F243-F182-4C0D-9217-64F51F6CDF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1921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254EF-68F3-4614-AB06-0C645CC32CC4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5F243-F182-4C0D-9217-64F51F6CDF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9260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254EF-68F3-4614-AB06-0C645CC32CC4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5F243-F182-4C0D-9217-64F51F6CDF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348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254EF-68F3-4614-AB06-0C645CC32CC4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5F243-F182-4C0D-9217-64F51F6CDF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7887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254EF-68F3-4614-AB06-0C645CC32CC4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5F243-F182-4C0D-9217-64F51F6CDF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5302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254EF-68F3-4614-AB06-0C645CC32CC4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5F243-F182-4C0D-9217-64F51F6CDF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650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254EF-68F3-4614-AB06-0C645CC32CC4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5F243-F182-4C0D-9217-64F51F6CDF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876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254EF-68F3-4614-AB06-0C645CC32CC4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5F243-F182-4C0D-9217-64F51F6CDF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7660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254EF-68F3-4614-AB06-0C645CC32CC4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5F243-F182-4C0D-9217-64F51F6CDF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2807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254EF-68F3-4614-AB06-0C645CC32CC4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5F243-F182-4C0D-9217-64F51F6CDF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98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254EF-68F3-4614-AB06-0C645CC32CC4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5F243-F182-4C0D-9217-64F51F6CDF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022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ncsd.ndc.gov.tw/Fore/SDG07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SDG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7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規劃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報告人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簡晨亘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96174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308757" y="201881"/>
            <a:ext cx="9655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聯合國的 </a:t>
            </a:r>
            <a:r>
              <a:rPr lang="en-US" altLang="zh-TW" sz="3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SDG7 </a:t>
            </a:r>
            <a:r>
              <a:rPr lang="zh-TW" altLang="en-US" sz="3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探討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348" y="1685772"/>
            <a:ext cx="7601050" cy="410385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57" y="1818616"/>
            <a:ext cx="3934470" cy="181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10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308757" y="201881"/>
            <a:ext cx="8351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區域尺度：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SDGs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的亞太區域推動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555093" y="1623993"/>
            <a:ext cx="11200071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亞太地區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SDG 7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四大核心指標的推動現況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普及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電力供應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(SDG 7.1.1)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推動現況： 亞太地區是全球電網普及速度最快的區域之一。電氣化率已從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2016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年的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94%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提高至目前的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98%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以上。主要成就： 印度與東南亞國家（如印尼、越南）透過大規模基礎設施建設，已接近達成全民供電目標。挑戰： 最後的「一哩路」集中在偏遠島嶼或偏鄉。目前正轉向推廣離網式太陽能系統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(Off-grid solar)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與微電網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(Mini-grids)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來解決殘餘的無電人口問題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清潔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烹飪能源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(SDG 7.1.2)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推動現況： 這是亞太地區進度相對落後的領域。儘管有所改善，全球仍有約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47%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缺乏清潔烹飪設備的人口集中在亞洲（主要在南亞與東南亞）。推動策略： * 能源轉型： 推廣從傳統生物質（木柴、農作物殘渣）轉向液化石油氣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(LPG)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或電子爐具。健康鏈結： 透過推動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SDG 7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與健康（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SDG 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）的關聯，強調減少室內空氣污染以降低婦女與孩童的呼吸道疾病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52639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14350" y="1718206"/>
            <a:ext cx="113157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再生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能源比例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(SDG 7.2)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推動現況： 亞太地區已成為全球再生能源投資的火車頭，特別是風能與太陽能。重點動向：中國與澳洲： 兩國在光電與風電裝機容量上領先全球。墨爾本於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年舉辦了亞太風能峰會，強化區域技術協作。東協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(ASEAN)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 近期發布了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《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SDG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SDG 13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聯結報告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，強調透過跨國電網計畫（如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ASEAN Power Grid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）來共享清潔能源。轉型壓力： 儘管再生能源成長快速，但本地區對煤炭的依賴依然很高，逐步淘汰煤電仍是達成目標的最大阻礙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能源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效率提升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(SDG 7.3)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推動現況： 能源密集度（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Energy Intensity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）雖持續下降，但每年下降率需達到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4%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才能符合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2030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目標，目前進度仍嫌不足。推動重點：工業與運輸： 推動電動化與數位化能源管理系統。政策引導： 許多國家開始實施更嚴格的建築節能法規與家電能效標籤。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308757" y="201881"/>
            <a:ext cx="8351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區域尺度：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SDGs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的亞太區域推動</a:t>
            </a:r>
          </a:p>
        </p:txBody>
      </p:sp>
    </p:spTree>
    <p:extLst>
      <p:ext uri="{BB962C8B-B14F-4D97-AF65-F5344CB8AC3E}">
        <p14:creationId xmlns:p14="http://schemas.microsoft.com/office/powerpoint/2010/main" val="862779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308757" y="201881"/>
            <a:ext cx="8425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臺灣尺度：國家層級的 </a:t>
            </a:r>
            <a:r>
              <a:rPr lang="en-US" altLang="zh-TW" sz="3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SDG7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落實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486513" y="1326813"/>
            <a:ext cx="1120007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台電系統</a:t>
            </a:r>
            <a:r>
              <a:rPr lang="zh-TW" altLang="en-US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燃氣</a:t>
            </a:r>
            <a:r>
              <a:rPr lang="zh-TW" altLang="en-US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發電量</a:t>
            </a:r>
            <a:r>
              <a:rPr lang="en-US" altLang="zh-TW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vs</a:t>
            </a:r>
            <a:r>
              <a:rPr lang="zh-TW" altLang="en-US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再生能源</a:t>
            </a:r>
            <a:r>
              <a:rPr lang="zh-TW" altLang="en-US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發電量</a:t>
            </a:r>
            <a:endParaRPr lang="en-US" altLang="zh-TW" b="1" u="sng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太陽光電累積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設置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離岸風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累積設置、發電量、併網量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能源消費密集度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強制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性節能措施涵蓋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率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設備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器具能效管理、車輛能耗管理、產業節能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規定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電價調整以照顧民生、穩定物價及兼顧產業競爭力為原則，細緻化調整各類用戶電價，其中產業用電依經營狀況及用電量適用不同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調幅，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(113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年兩次電價調整後的產業電價為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4.27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度，低於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鄰近亞洲國家日本及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韓國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參考資料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https://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ncsd.ndc.gov.tw/Fore/SDG07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4377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99" y="130707"/>
            <a:ext cx="1596358" cy="158507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113051" y="311264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28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SDG7</a:t>
            </a:r>
            <a:r>
              <a:rPr lang="zh-TW" altLang="en-US" sz="2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800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可</a:t>
            </a:r>
            <a:r>
              <a:rPr lang="zh-TW" altLang="en-US" sz="2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負擔的潔淨能源	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352204"/>
              </p:ext>
            </p:extLst>
          </p:nvPr>
        </p:nvGraphicFramePr>
        <p:xfrm>
          <a:off x="1282865" y="1989633"/>
          <a:ext cx="5277955" cy="3842539"/>
        </p:xfrm>
        <a:graphic>
          <a:graphicData uri="http://schemas.openxmlformats.org/drawingml/2006/table">
            <a:tbl>
              <a:tblPr/>
              <a:tblGrid>
                <a:gridCol w="5277955">
                  <a:extLst>
                    <a:ext uri="{9D8B030D-6E8A-4147-A177-3AD203B41FA5}">
                      <a16:colId xmlns:a16="http://schemas.microsoft.com/office/drawing/2014/main" val="4239882754"/>
                    </a:ext>
                  </a:extLst>
                </a:gridCol>
              </a:tblGrid>
              <a:tr h="847786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臺北市太陽光電發電設備設置容量（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kW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台北</a:t>
                      </a:r>
                      <a:b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太陽能光電系統設置容量（百萬千瓦）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台南</a:t>
                      </a:r>
                      <a:b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推動太陽光電設施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(GW) -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高雄</a:t>
                      </a:r>
                    </a:p>
                  </a:txBody>
                  <a:tcPr marL="9199" marR="9199" marT="91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6692533"/>
                  </a:ext>
                </a:extLst>
              </a:tr>
              <a:tr h="56985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人均年用電量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度 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 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人年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 -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新北</a:t>
                      </a:r>
                      <a:b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人均能源使用量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度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 --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高雄</a:t>
                      </a:r>
                    </a:p>
                  </a:txBody>
                  <a:tcPr marL="9199" marR="9199" marT="91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506237"/>
                  </a:ext>
                </a:extLst>
              </a:tr>
              <a:tr h="847786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再生能源設置容量成長率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(MW) -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新北</a:t>
                      </a:r>
                      <a:b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再生能源累計發電度數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億度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 -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桃園</a:t>
                      </a:r>
                      <a:b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再生能源裝置容量累計成長率（％）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台中</a:t>
                      </a:r>
                    </a:p>
                  </a:txBody>
                  <a:tcPr marL="9199" marR="9199" marT="91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5036282"/>
                  </a:ext>
                </a:extLst>
              </a:tr>
              <a:tr h="33575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服務業戶均年用電量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度 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 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年戶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9199" marR="9199" marT="91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998935"/>
                  </a:ext>
                </a:extLst>
              </a:tr>
              <a:tr h="33575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LED </a:t>
                      </a: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智能路燈換裝計畫 </a:t>
                      </a: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累積減碳量</a:t>
                      </a: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萬噸</a:t>
                      </a: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9199" marR="9199" marT="91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524572"/>
                  </a:ext>
                </a:extLst>
              </a:tr>
              <a:tr h="569851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一般廢棄物經處理設施或經太陽光電系統所產生之發電量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億度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9199" marR="9199" marT="91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10072"/>
                  </a:ext>
                </a:extLst>
              </a:tr>
              <a:tr h="33575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使用再生能源比例（％）</a:t>
                      </a:r>
                    </a:p>
                  </a:txBody>
                  <a:tcPr marL="9199" marR="9199" marT="91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739408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9397"/>
              </p:ext>
            </p:extLst>
          </p:nvPr>
        </p:nvGraphicFramePr>
        <p:xfrm>
          <a:off x="6928176" y="1989633"/>
          <a:ext cx="4457516" cy="3691600"/>
        </p:xfrm>
        <a:graphic>
          <a:graphicData uri="http://schemas.openxmlformats.org/drawingml/2006/table">
            <a:tbl>
              <a:tblPr/>
              <a:tblGrid>
                <a:gridCol w="4457516">
                  <a:extLst>
                    <a:ext uri="{9D8B030D-6E8A-4147-A177-3AD203B41FA5}">
                      <a16:colId xmlns:a16="http://schemas.microsoft.com/office/drawing/2014/main" val="677356722"/>
                    </a:ext>
                  </a:extLst>
                </a:gridCol>
              </a:tblGrid>
              <a:tr h="36710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工廠設置太陽能光電面積累計達成率（％）</a:t>
                      </a:r>
                    </a:p>
                  </a:txBody>
                  <a:tcPr marL="9199" marR="9199" marT="91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940530"/>
                  </a:ext>
                </a:extLst>
              </a:tr>
              <a:tr h="36710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資源循環發電成長率（汽電共生、廚餘厭氧）（％）</a:t>
                      </a:r>
                    </a:p>
                  </a:txBody>
                  <a:tcPr marL="9199" marR="9199" marT="91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959764"/>
                  </a:ext>
                </a:extLst>
              </a:tr>
              <a:tr h="36710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LED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節能路燈換裝數量累計成長率（％）</a:t>
                      </a:r>
                    </a:p>
                  </a:txBody>
                  <a:tcPr marL="9199" marR="9199" marT="91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694382"/>
                  </a:ext>
                </a:extLst>
              </a:tr>
              <a:tr h="36710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增設陽光社區（處）</a:t>
                      </a:r>
                    </a:p>
                  </a:txBody>
                  <a:tcPr marL="9199" marR="9199" marT="91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088814"/>
                  </a:ext>
                </a:extLst>
              </a:tr>
              <a:tr h="36710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焚化熱能發電年發電量（百萬瓦特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時）</a:t>
                      </a:r>
                    </a:p>
                  </a:txBody>
                  <a:tcPr marL="9199" marR="9199" marT="91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934149"/>
                  </a:ext>
                </a:extLst>
              </a:tr>
              <a:tr h="36710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掩埋場種電年發電量（萬度</a:t>
                      </a: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年）</a:t>
                      </a:r>
                    </a:p>
                  </a:txBody>
                  <a:tcPr marL="9199" marR="9199" marT="91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8261367"/>
                  </a:ext>
                </a:extLst>
              </a:tr>
              <a:tr h="36710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輔導畜牧場沼氣再利用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(%)</a:t>
                      </a:r>
                    </a:p>
                  </a:txBody>
                  <a:tcPr marL="9199" marR="9199" marT="91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674786"/>
                  </a:ext>
                </a:extLst>
              </a:tr>
              <a:tr h="36710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獲得供電的家戶比例</a:t>
                      </a:r>
                      <a:r>
                        <a:rPr lang="en-US" altLang="zh-TW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(%)</a:t>
                      </a:r>
                    </a:p>
                  </a:txBody>
                  <a:tcPr marL="9199" marR="9199" marT="91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995640"/>
                  </a:ext>
                </a:extLst>
              </a:tr>
              <a:tr h="36710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單位人口再生能源發電度數（度）</a:t>
                      </a:r>
                    </a:p>
                  </a:txBody>
                  <a:tcPr marL="9199" marR="9199" marT="91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932822"/>
                  </a:ext>
                </a:extLst>
              </a:tr>
              <a:tr h="38765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再生能源替代率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(%)</a:t>
                      </a:r>
                    </a:p>
                  </a:txBody>
                  <a:tcPr marL="9199" marR="9199" marT="9199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842101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2113051" y="937022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臺灣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六都</a:t>
            </a:r>
            <a:r>
              <a:rPr lang="zh-TW" altLang="en-US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縣市指標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參考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8290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99" y="130707"/>
            <a:ext cx="1596358" cy="158507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113051" y="311264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28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SDG7</a:t>
            </a:r>
            <a:r>
              <a:rPr lang="zh-TW" altLang="en-US" sz="2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800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可</a:t>
            </a:r>
            <a:r>
              <a:rPr lang="zh-TW" altLang="en-US" sz="2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負擔的潔淨能源	</a:t>
            </a:r>
          </a:p>
        </p:txBody>
      </p:sp>
      <p:sp>
        <p:nvSpPr>
          <p:cNvPr id="8" name="矩形 7"/>
          <p:cNvSpPr/>
          <p:nvPr/>
        </p:nvSpPr>
        <p:spPr>
          <a:xfrm>
            <a:off x="2113052" y="942160"/>
            <a:ext cx="66816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目標：確保所有人獲得可負擔</a:t>
            </a:r>
            <a:r>
              <a:rPr lang="zh-TW" altLang="en-US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、安全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和永續的現代能源</a:t>
            </a:r>
          </a:p>
        </p:txBody>
      </p:sp>
      <p:sp>
        <p:nvSpPr>
          <p:cNvPr id="9" name="矩形 8"/>
          <p:cNvSpPr/>
          <p:nvPr/>
        </p:nvSpPr>
        <p:spPr>
          <a:xfrm>
            <a:off x="186299" y="2116194"/>
            <a:ext cx="6096000" cy="41395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sz="20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聯合國</a:t>
            </a:r>
            <a:r>
              <a:rPr lang="zh-TW" altLang="en-US" sz="2000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細項目標：</a:t>
            </a:r>
            <a:endParaRPr lang="en-US" altLang="zh-TW" sz="2000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96000" indent="-457200">
              <a:lnSpc>
                <a:spcPct val="150000"/>
              </a:lnSpc>
            </a:pPr>
            <a:r>
              <a:rPr lang="en-US" altLang="zh-TW" sz="1600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7.1 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在西元</a:t>
            </a:r>
            <a:r>
              <a:rPr lang="en-US" altLang="zh-TW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2030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年前，確保所有的人都</a:t>
            </a:r>
            <a:r>
              <a:rPr lang="zh-TW" altLang="en-US" sz="16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可取得負擔的起、可靠的，以及現代的能源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服務。</a:t>
            </a:r>
          </a:p>
          <a:p>
            <a:pPr marL="396000" indent="-457200">
              <a:lnSpc>
                <a:spcPct val="150000"/>
              </a:lnSpc>
            </a:pPr>
            <a:r>
              <a:rPr lang="en-US" altLang="zh-TW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7.2 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在西元</a:t>
            </a:r>
            <a:r>
              <a:rPr lang="en-US" altLang="zh-TW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2030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年以前，大幅提高</a:t>
            </a:r>
            <a:r>
              <a:rPr lang="zh-TW" altLang="en-US" sz="16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全球再生能源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的共享。</a:t>
            </a:r>
          </a:p>
          <a:p>
            <a:pPr marL="396000" indent="-457200">
              <a:lnSpc>
                <a:spcPct val="150000"/>
              </a:lnSpc>
            </a:pPr>
            <a:r>
              <a:rPr lang="en-US" altLang="zh-TW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7.3 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在西元</a:t>
            </a:r>
            <a:r>
              <a:rPr lang="en-US" altLang="zh-TW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2030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年以前，將全球</a:t>
            </a:r>
            <a:r>
              <a:rPr lang="zh-TW" altLang="en-US" sz="16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能源效率的改善度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提高一倍。</a:t>
            </a:r>
          </a:p>
          <a:p>
            <a:pPr marL="396000" indent="-457200">
              <a:lnSpc>
                <a:spcPct val="150000"/>
              </a:lnSpc>
            </a:pPr>
            <a:r>
              <a:rPr lang="en-US" altLang="zh-TW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7.a. 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在西元</a:t>
            </a:r>
            <a:r>
              <a:rPr lang="en-US" altLang="zh-TW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2030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年以前，改善</a:t>
            </a:r>
            <a:r>
              <a:rPr lang="zh-TW" altLang="en-US" sz="16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國際合作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，以提高乾淨能源與科技的取得管道，包括再生能源、能源效率、更先進及更乾淨的石化燃料科技，並促進能源基礎建設與乾淨能源科技的</a:t>
            </a:r>
            <a:r>
              <a:rPr lang="zh-TW" altLang="en-US" sz="16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投資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396000" indent="-457200">
              <a:lnSpc>
                <a:spcPct val="150000"/>
              </a:lnSpc>
            </a:pPr>
            <a:r>
              <a:rPr lang="en-US" altLang="zh-TW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7.b. 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在西元</a:t>
            </a:r>
            <a:r>
              <a:rPr lang="en-US" altLang="zh-TW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2030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年以前，擴大</a:t>
            </a:r>
            <a:r>
              <a:rPr lang="zh-TW" altLang="en-US" sz="16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基礎建設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並改善</a:t>
            </a:r>
            <a:r>
              <a:rPr lang="zh-TW" altLang="en-US" sz="16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科技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，以為所有</a:t>
            </a:r>
            <a:r>
              <a:rPr lang="zh-TW" altLang="en-US" sz="16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開發中國家提供現代及永續的能源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服務，尤其是</a:t>
            </a:r>
            <a:r>
              <a:rPr lang="en-US" altLang="zh-TW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LDCs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SIDS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</a:p>
        </p:txBody>
      </p:sp>
      <p:sp>
        <p:nvSpPr>
          <p:cNvPr id="10" name="矩形 9"/>
          <p:cNvSpPr/>
          <p:nvPr/>
        </p:nvSpPr>
        <p:spPr>
          <a:xfrm>
            <a:off x="7121355" y="2116194"/>
            <a:ext cx="4241863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臺東縣相關計畫：</a:t>
            </a:r>
            <a:endParaRPr lang="en-US" altLang="zh-TW" sz="1600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「東方屋頂 陽光發電」</a:t>
            </a:r>
            <a:r>
              <a:rPr lang="zh-TW" altLang="en-US" sz="1600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計畫</a:t>
            </a:r>
            <a:endParaRPr lang="en-US" altLang="zh-TW" sz="1600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臺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東縣推動綠能城市實施計畫</a:t>
            </a:r>
          </a:p>
          <a:p>
            <a:r>
              <a:rPr lang="zh-TW" altLang="en-US" sz="1600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縣市</a:t>
            </a:r>
            <a:r>
              <a:rPr lang="zh-TW" altLang="en-US" sz="16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共推住商節電行動</a:t>
            </a:r>
            <a:r>
              <a:rPr lang="zh-TW" altLang="en-US" sz="1600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計畫</a:t>
            </a:r>
            <a:endParaRPr lang="en-US" altLang="zh-TW" sz="1600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6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參考資料：</a:t>
            </a:r>
            <a:r>
              <a:rPr lang="en-US" altLang="zh-TW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2021 </a:t>
            </a:r>
            <a:r>
              <a:rPr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聯合國永續發展</a:t>
            </a:r>
            <a:r>
              <a:rPr lang="zh-TW" altLang="en-US" sz="1200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目標　臺</a:t>
            </a:r>
            <a:r>
              <a:rPr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東縣自願檢視報告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7183515" y="5055460"/>
            <a:ext cx="2634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再生能源發電裝置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容量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再生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能源發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電量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每人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每年平均用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電量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觀光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衝擊吸收力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121355" y="5017770"/>
            <a:ext cx="2868465" cy="1238019"/>
          </a:xfrm>
          <a:prstGeom prst="rect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向下箭號 3"/>
          <p:cNvSpPr/>
          <p:nvPr/>
        </p:nvSpPr>
        <p:spPr>
          <a:xfrm>
            <a:off x="7263830" y="3728655"/>
            <a:ext cx="484632" cy="1219004"/>
          </a:xfrm>
          <a:prstGeom prst="downArrow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0272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99" y="1374410"/>
            <a:ext cx="1596358" cy="1585077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345895" y="402543"/>
            <a:ext cx="3672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臺東縣市指標參考  </a:t>
            </a:r>
            <a:endParaRPr lang="zh-TW" altLang="en-US" sz="32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1890446" y="1363232"/>
            <a:ext cx="3061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再生能源發電裝置</a:t>
            </a:r>
            <a:r>
              <a:rPr lang="zh-TW" altLang="en-US" dirty="0" smtClean="0"/>
              <a:t>容量</a:t>
            </a:r>
            <a:endParaRPr lang="en-US" altLang="zh-TW" dirty="0" smtClean="0"/>
          </a:p>
          <a:p>
            <a:r>
              <a:rPr lang="zh-TW" altLang="en-US" dirty="0" smtClean="0"/>
              <a:t>再生</a:t>
            </a:r>
            <a:r>
              <a:rPr lang="zh-TW" altLang="en-US" dirty="0"/>
              <a:t>能源發</a:t>
            </a:r>
            <a:r>
              <a:rPr lang="zh-TW" altLang="en-US" dirty="0" smtClean="0"/>
              <a:t>電量</a:t>
            </a:r>
            <a:endParaRPr lang="en-US" altLang="zh-TW" dirty="0" smtClean="0"/>
          </a:p>
          <a:p>
            <a:r>
              <a:rPr lang="zh-TW" altLang="en-US" dirty="0" smtClean="0"/>
              <a:t>每人</a:t>
            </a:r>
            <a:r>
              <a:rPr lang="zh-TW" altLang="en-US" dirty="0"/>
              <a:t>每年平均用電量</a:t>
            </a: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99" y="3733670"/>
            <a:ext cx="1594038" cy="1588345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78" y="1363232"/>
            <a:ext cx="1591382" cy="1557523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6261" y="3772106"/>
            <a:ext cx="1600199" cy="161192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890446" y="3723926"/>
            <a:ext cx="352746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每人每日垃圾產生</a:t>
            </a:r>
            <a:r>
              <a:rPr lang="zh-TW" altLang="en-US" dirty="0" smtClean="0"/>
              <a:t>量</a:t>
            </a:r>
            <a:endParaRPr lang="en-US" altLang="zh-TW" dirty="0" smtClean="0"/>
          </a:p>
          <a:p>
            <a:r>
              <a:rPr lang="zh-TW" altLang="en-US" dirty="0" smtClean="0"/>
              <a:t>垃圾</a:t>
            </a:r>
            <a:r>
              <a:rPr lang="zh-TW" altLang="en-US" dirty="0"/>
              <a:t>回收</a:t>
            </a:r>
            <a:r>
              <a:rPr lang="zh-TW" altLang="en-US" dirty="0" smtClean="0"/>
              <a:t>率</a:t>
            </a:r>
            <a:endParaRPr lang="en-US" altLang="zh-TW" dirty="0" smtClean="0"/>
          </a:p>
          <a:p>
            <a:r>
              <a:rPr lang="zh-TW" altLang="en-US" dirty="0" smtClean="0"/>
              <a:t>資源回收率</a:t>
            </a:r>
            <a:endParaRPr lang="en-US" altLang="zh-TW" dirty="0" smtClean="0"/>
          </a:p>
          <a:p>
            <a:r>
              <a:rPr lang="zh-TW" altLang="en-US" dirty="0" smtClean="0"/>
              <a:t>廚</a:t>
            </a:r>
            <a:r>
              <a:rPr lang="zh-TW" altLang="en-US" dirty="0"/>
              <a:t>餘回收再</a:t>
            </a:r>
            <a:r>
              <a:rPr lang="zh-TW" altLang="en-US" dirty="0" smtClean="0"/>
              <a:t>利用率</a:t>
            </a:r>
            <a:endParaRPr lang="en-US" altLang="zh-TW" dirty="0" smtClean="0"/>
          </a:p>
          <a:p>
            <a:r>
              <a:rPr lang="zh-TW" altLang="en-US" dirty="0" smtClean="0"/>
              <a:t>各</a:t>
            </a:r>
            <a:r>
              <a:rPr lang="zh-TW" altLang="en-US" dirty="0"/>
              <a:t>年度公部門綠色採購</a:t>
            </a:r>
            <a:r>
              <a:rPr lang="zh-TW" altLang="en-US" dirty="0" smtClean="0"/>
              <a:t>金額</a:t>
            </a:r>
            <a:endParaRPr lang="en-US" altLang="zh-TW" dirty="0" smtClean="0"/>
          </a:p>
          <a:p>
            <a:r>
              <a:rPr lang="zh-TW" altLang="en-US" dirty="0" smtClean="0"/>
              <a:t>廢棄</a:t>
            </a:r>
            <a:r>
              <a:rPr lang="zh-TW" altLang="en-US" dirty="0"/>
              <a:t>漁網具回收</a:t>
            </a:r>
            <a:r>
              <a:rPr lang="zh-TW" altLang="en-US" dirty="0" smtClean="0"/>
              <a:t>量</a:t>
            </a:r>
            <a:endParaRPr lang="en-US" altLang="zh-TW" dirty="0" smtClean="0"/>
          </a:p>
          <a:p>
            <a:r>
              <a:rPr lang="zh-TW" altLang="en-US" dirty="0" smtClean="0"/>
              <a:t>各</a:t>
            </a:r>
            <a:r>
              <a:rPr lang="zh-TW" altLang="en-US" dirty="0"/>
              <a:t>年度推動節約用水節</a:t>
            </a:r>
            <a:r>
              <a:rPr lang="zh-TW" altLang="en-US" dirty="0" smtClean="0"/>
              <a:t>水量</a:t>
            </a:r>
            <a:endParaRPr lang="en-US" altLang="zh-TW" dirty="0" smtClean="0"/>
          </a:p>
          <a:p>
            <a:r>
              <a:rPr lang="zh-TW" altLang="en-US" dirty="0" smtClean="0"/>
              <a:t>各</a:t>
            </a:r>
            <a:r>
              <a:rPr lang="zh-TW" altLang="en-US" dirty="0"/>
              <a:t>年度廢（污）水回收再利用量</a:t>
            </a:r>
          </a:p>
        </p:txBody>
      </p:sp>
      <p:sp>
        <p:nvSpPr>
          <p:cNvPr id="6" name="矩形 5"/>
          <p:cNvSpPr/>
          <p:nvPr/>
        </p:nvSpPr>
        <p:spPr>
          <a:xfrm>
            <a:off x="7681645" y="1374410"/>
            <a:ext cx="41952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各年度電動汽車佔比（交通減碳</a:t>
            </a:r>
            <a:r>
              <a:rPr lang="zh-TW" altLang="en-US" dirty="0" smtClean="0"/>
              <a:t>）</a:t>
            </a:r>
            <a:endParaRPr lang="en-US" altLang="zh-TW" dirty="0" smtClean="0"/>
          </a:p>
          <a:p>
            <a:r>
              <a:rPr lang="zh-TW" altLang="en-US" dirty="0" smtClean="0"/>
              <a:t>每年</a:t>
            </a:r>
            <a:r>
              <a:rPr lang="zh-TW" altLang="en-US" dirty="0"/>
              <a:t>臭氧</a:t>
            </a:r>
            <a:r>
              <a:rPr lang="en-US" altLang="zh-TW" dirty="0"/>
              <a:t>(O3)</a:t>
            </a:r>
            <a:r>
              <a:rPr lang="zh-TW" altLang="en-US" dirty="0"/>
              <a:t>小時平均值（大氣觀測</a:t>
            </a:r>
            <a:r>
              <a:rPr lang="zh-TW" altLang="en-US" dirty="0" smtClean="0"/>
              <a:t>）</a:t>
            </a:r>
            <a:endParaRPr lang="en-US" altLang="zh-TW" dirty="0" smtClean="0"/>
          </a:p>
          <a:p>
            <a:r>
              <a:rPr lang="zh-TW" altLang="en-US" dirty="0" smtClean="0"/>
              <a:t>每日</a:t>
            </a:r>
            <a:r>
              <a:rPr lang="zh-TW" altLang="en-US" dirty="0"/>
              <a:t>空氣懸浮微粒</a:t>
            </a:r>
            <a:r>
              <a:rPr lang="en-US" altLang="zh-TW" dirty="0"/>
              <a:t>(PM10)</a:t>
            </a:r>
            <a:r>
              <a:rPr lang="zh-TW" altLang="en-US" dirty="0"/>
              <a:t>平均濃度</a:t>
            </a:r>
          </a:p>
        </p:txBody>
      </p:sp>
      <p:sp>
        <p:nvSpPr>
          <p:cNvPr id="15" name="矩形 14"/>
          <p:cNvSpPr/>
          <p:nvPr/>
        </p:nvSpPr>
        <p:spPr>
          <a:xfrm>
            <a:off x="7681645" y="3733670"/>
            <a:ext cx="32295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有機及友善農業生產</a:t>
            </a:r>
            <a:r>
              <a:rPr lang="zh-TW" altLang="en-US" dirty="0" smtClean="0"/>
              <a:t>面積</a:t>
            </a:r>
            <a:endParaRPr lang="en-US" altLang="zh-TW" dirty="0" smtClean="0"/>
          </a:p>
          <a:p>
            <a:r>
              <a:rPr lang="zh-TW" altLang="en-US" dirty="0" smtClean="0"/>
              <a:t>各</a:t>
            </a:r>
            <a:r>
              <a:rPr lang="zh-TW" altLang="en-US" dirty="0"/>
              <a:t>年度編定保護區</a:t>
            </a:r>
            <a:r>
              <a:rPr lang="zh-TW" altLang="en-US" dirty="0" smtClean="0"/>
              <a:t>面積</a:t>
            </a:r>
            <a:endParaRPr lang="en-US" altLang="zh-TW" dirty="0" smtClean="0"/>
          </a:p>
          <a:p>
            <a:r>
              <a:rPr lang="zh-TW" altLang="en-US" dirty="0" smtClean="0"/>
              <a:t>各</a:t>
            </a:r>
            <a:r>
              <a:rPr lang="zh-TW" altLang="en-US" dirty="0"/>
              <a:t>年度特定外來植物覆蓋面積</a:t>
            </a:r>
          </a:p>
        </p:txBody>
      </p:sp>
      <p:sp>
        <p:nvSpPr>
          <p:cNvPr id="16" name="矩形 15"/>
          <p:cNvSpPr/>
          <p:nvPr/>
        </p:nvSpPr>
        <p:spPr>
          <a:xfrm>
            <a:off x="8272196" y="694930"/>
            <a:ext cx="373829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參考資料：</a:t>
            </a:r>
            <a:r>
              <a:rPr lang="en-US" altLang="zh-TW" sz="1050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2024</a:t>
            </a:r>
            <a:r>
              <a:rPr lang="zh-TW" altLang="en-US" sz="1050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聯合國</a:t>
            </a:r>
            <a:r>
              <a:rPr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永續發展</a:t>
            </a:r>
            <a:r>
              <a:rPr lang="zh-TW" altLang="en-US" sz="1050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目標臺</a:t>
            </a:r>
            <a:r>
              <a:rPr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東縣自願檢視報告</a:t>
            </a:r>
          </a:p>
        </p:txBody>
      </p:sp>
    </p:spTree>
    <p:extLst>
      <p:ext uri="{BB962C8B-B14F-4D97-AF65-F5344CB8AC3E}">
        <p14:creationId xmlns:p14="http://schemas.microsoft.com/office/powerpoint/2010/main" val="1173235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7849</TotalTime>
  <Words>1108</Words>
  <Application>Microsoft Office PowerPoint</Application>
  <PresentationFormat>寬螢幕</PresentationFormat>
  <Paragraphs>76</Paragraphs>
  <Slides>8</Slides>
  <Notes>1</Notes>
  <HiddenSlides>1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微軟正黑體</vt:lpstr>
      <vt:lpstr>新細明體</vt:lpstr>
      <vt:lpstr>Arial</vt:lpstr>
      <vt:lpstr>Calibri</vt:lpstr>
      <vt:lpstr>Calibri Light</vt:lpstr>
      <vt:lpstr>Office 佈景主題</vt:lpstr>
      <vt:lpstr>SDG 7 規劃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SDG11 規劃</dc:title>
  <dc:creator>user</dc:creator>
  <cp:lastModifiedBy>user</cp:lastModifiedBy>
  <cp:revision>44</cp:revision>
  <dcterms:created xsi:type="dcterms:W3CDTF">2025-09-25T06:45:57Z</dcterms:created>
  <dcterms:modified xsi:type="dcterms:W3CDTF">2026-03-27T09:39:48Z</dcterms:modified>
</cp:coreProperties>
</file>